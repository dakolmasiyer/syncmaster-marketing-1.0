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252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81250" y="3409950"/>
            <a:ext cx="5524500" cy="5524500"/>
          </a:xfrm>
          <a:prstGeom prst="ellipse">
            <a:avLst/>
          </a:prstGeom>
          <a:solidFill>
            <a:srgbClr val="606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4875" y="790575"/>
            <a:ext cx="2667000" cy="3238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Space Grotesk"/>
              </a:rPr>
              <a:t>SYNCMASTER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96325" y="752475"/>
            <a:ext cx="838200" cy="419100"/>
          </a:xfrm>
          <a:prstGeom prst="roundRect">
            <a:avLst/>
          </a:prstGeom>
          <a:noFill/>
          <a:ln w="19050">
            <a:solidFill>
              <a:srgbClr val="9B9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950">
                <a:solidFill>
                  <a:srgbClr val="FFFFFF"/>
                </a:solidFill>
                <a:latin typeface="Space Grotesk"/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2475" y="11687175"/>
            <a:ext cx="2847975" cy="419100"/>
          </a:xfrm>
          <a:prstGeom prst="roundRect">
            <a:avLst/>
          </a:prstGeom>
          <a:noFill/>
          <a:ln w="19050">
            <a:solidFill>
              <a:srgbClr val="9B9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650">
                <a:solidFill>
                  <a:srgbClr val="FFFFFF"/>
                </a:solidFill>
                <a:latin typeface="Space Grotesk"/>
              </a:rPr>
              <a:t>DID YOU CATCH THIS?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34375" y="11687175"/>
            <a:ext cx="1200150" cy="419100"/>
          </a:xfrm>
          <a:prstGeom prst="roundRect">
            <a:avLst/>
          </a:prstGeom>
          <a:noFill/>
          <a:ln w="19050">
            <a:solidFill>
              <a:srgbClr val="9B9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650">
                <a:solidFill>
                  <a:srgbClr val="FFFFFF"/>
                </a:solidFill>
                <a:latin typeface="Space Grotesk"/>
              </a:rPr>
              <a:t>01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3619500"/>
            <a:ext cx="8477250" cy="4381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350" b="1" i="0">
                <a:solidFill>
                  <a:srgbClr val="FFFFFF"/>
                </a:solidFill>
                <a:latin typeface="Space Grotesk"/>
              </a:rPr>
              <a:t>Your favourite songs have been on the world's biggest stages.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8191500"/>
            <a:ext cx="8477250" cy="8572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50" b="0" i="0">
                <a:solidFill>
                  <a:srgbClr val="C9E834"/>
                </a:solidFill>
                <a:latin typeface="Space Grotesk"/>
              </a:rPr>
              <a:t>Did you catch them?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0500" y="190500"/>
            <a:ext cx="9906000" cy="28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44466"/>
                </a:solidFill>
                <a:latin typeface="Space Grotesk"/>
              </a:rPr>
              <a:t>[ Slide 2: Replace dark background with NBA court / arena photo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4875" y="790575"/>
            <a:ext cx="2667000" cy="3238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Space Grotesk"/>
              </a:rPr>
              <a:t>SYNCMASTER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96325" y="752475"/>
            <a:ext cx="838200" cy="419100"/>
          </a:xfrm>
          <a:prstGeom prst="roundRect">
            <a:avLst/>
          </a:prstGeom>
          <a:noFill/>
          <a:ln w="19050">
            <a:solidFill>
              <a:srgbClr val="8C8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950">
                <a:solidFill>
                  <a:srgbClr val="FFFFFF"/>
                </a:solidFill>
                <a:latin typeface="Space Grotesk"/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2475" y="11687175"/>
            <a:ext cx="2847975" cy="419100"/>
          </a:xfrm>
          <a:prstGeom prst="roundRect">
            <a:avLst/>
          </a:prstGeom>
          <a:noFill/>
          <a:ln w="19050">
            <a:solidFill>
              <a:srgbClr val="8C8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650">
                <a:solidFill>
                  <a:srgbClr val="FFFFFF"/>
                </a:solidFill>
                <a:latin typeface="Space Grotesk"/>
              </a:rPr>
              <a:t>DID YOU CATCH THIS?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34375" y="11687175"/>
            <a:ext cx="1200150" cy="419100"/>
          </a:xfrm>
          <a:prstGeom prst="roundRect">
            <a:avLst/>
          </a:prstGeom>
          <a:noFill/>
          <a:ln w="19050">
            <a:solidFill>
              <a:srgbClr val="8C8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650">
                <a:solidFill>
                  <a:srgbClr val="FFFFFF"/>
                </a:solidFill>
                <a:latin typeface="Space Grotesk"/>
              </a:rPr>
              <a:t>02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4875" y="4286250"/>
            <a:ext cx="8477250" cy="914400"/>
          </a:xfrm>
          <a:prstGeom prst="roundRect">
            <a:avLst/>
          </a:prstGeom>
          <a:solidFill>
            <a:srgbClr val="18192A"/>
          </a:solidFill>
          <a:ln w="9525">
            <a:solidFill>
              <a:srgbClr val="2A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209675" y="4476750"/>
            <a:ext cx="533400" cy="533400"/>
          </a:xfrm>
          <a:prstGeom prst="ellipse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3025" y="4619625"/>
            <a:ext cx="400050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500" b="0" i="0">
                <a:solidFill>
                  <a:srgbClr val="0D0D18"/>
                </a:solidFill>
                <a:latin typeface="Space Grotesk"/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2625" y="4410075"/>
            <a:ext cx="6572250" cy="381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250" b="1" i="0">
                <a:solidFill>
                  <a:srgbClr val="FFFFFF"/>
                </a:solidFill>
                <a:latin typeface="Space Grotesk"/>
              </a:rPr>
              <a:t>One 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2625" y="4829175"/>
            <a:ext cx="6572250" cy="28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50" b="0" i="0">
                <a:solidFill>
                  <a:srgbClr val="9696A3"/>
                </a:solidFill>
                <a:latin typeface="Space Grotesk"/>
              </a:rPr>
              <a:t>Drake ft. Wizkid &amp; Kyla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8700" y="4752975"/>
            <a:ext cx="28575" cy="11430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715375" y="4676775"/>
            <a:ext cx="28575" cy="19050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782050" y="4791075"/>
            <a:ext cx="28575" cy="7620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848725" y="4657725"/>
            <a:ext cx="28575" cy="20955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915400" y="4733925"/>
            <a:ext cx="28575" cy="13335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982075" y="4695825"/>
            <a:ext cx="28575" cy="17145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48750" y="4772025"/>
            <a:ext cx="28575" cy="9525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4875" y="5734050"/>
            <a:ext cx="8477250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50" b="0" i="0">
                <a:solidFill>
                  <a:srgbClr val="9696A3"/>
                </a:solidFill>
                <a:latin typeface="Space Grotesk"/>
              </a:rPr>
              <a:t>DID YOU CATCH IT AT THE…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875" y="6172200"/>
            <a:ext cx="8477250" cy="1143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6300" b="1" i="0">
                <a:solidFill>
                  <a:srgbClr val="FFFFFF"/>
                </a:solidFill>
                <a:latin typeface="Space Grotesk"/>
              </a:rPr>
              <a:t>NBA Playoffs. 2016.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875" y="7448550"/>
            <a:ext cx="8477250" cy="952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550" b="0" i="0">
                <a:solidFill>
                  <a:srgbClr val="C4C4CE"/>
                </a:solidFill>
                <a:latin typeface="Space Grotesk"/>
              </a:rPr>
              <a:t>That wasn't radio. </a:t>
            </a:r>
            <a:r>
              <a:rPr sz="2550" b="0" i="1">
                <a:solidFill>
                  <a:srgbClr val="C9E834"/>
                </a:solidFill>
                <a:latin typeface="Space Grotesk"/>
              </a:rPr>
              <a:t>That was a sync deal.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0500" y="190500"/>
            <a:ext cx="9906000" cy="28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44466"/>
                </a:solidFill>
                <a:latin typeface="Space Grotesk"/>
              </a:rPr>
              <a:t>[ Slide 3: Replace dark background with Top Boy still or dark London street photo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4875" y="790575"/>
            <a:ext cx="2667000" cy="3238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Space Grotesk"/>
              </a:rPr>
              <a:t>SYNCMASTER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96325" y="752475"/>
            <a:ext cx="838200" cy="419100"/>
          </a:xfrm>
          <a:prstGeom prst="roundRect">
            <a:avLst/>
          </a:prstGeom>
          <a:noFill/>
          <a:ln w="19050">
            <a:solidFill>
              <a:srgbClr val="8C8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950">
                <a:solidFill>
                  <a:srgbClr val="FFFFFF"/>
                </a:solidFill>
                <a:latin typeface="Space Grotesk"/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2475" y="11687175"/>
            <a:ext cx="2847975" cy="419100"/>
          </a:xfrm>
          <a:prstGeom prst="roundRect">
            <a:avLst/>
          </a:prstGeom>
          <a:noFill/>
          <a:ln w="19050">
            <a:solidFill>
              <a:srgbClr val="8C8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650">
                <a:solidFill>
                  <a:srgbClr val="FFFFFF"/>
                </a:solidFill>
                <a:latin typeface="Space Grotesk"/>
              </a:rPr>
              <a:t>DID YOU CATCH THIS?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34375" y="11687175"/>
            <a:ext cx="1200150" cy="419100"/>
          </a:xfrm>
          <a:prstGeom prst="roundRect">
            <a:avLst/>
          </a:prstGeom>
          <a:noFill/>
          <a:ln w="19050">
            <a:solidFill>
              <a:srgbClr val="8C8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650">
                <a:solidFill>
                  <a:srgbClr val="FFFFFF"/>
                </a:solidFill>
                <a:latin typeface="Space Grotesk"/>
              </a:rPr>
              <a:t>03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4875" y="4286250"/>
            <a:ext cx="8477250" cy="914400"/>
          </a:xfrm>
          <a:prstGeom prst="roundRect">
            <a:avLst/>
          </a:prstGeom>
          <a:solidFill>
            <a:srgbClr val="18192A"/>
          </a:solidFill>
          <a:ln w="9525">
            <a:solidFill>
              <a:srgbClr val="2A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209675" y="4476750"/>
            <a:ext cx="533400" cy="533400"/>
          </a:xfrm>
          <a:prstGeom prst="ellipse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3025" y="4619625"/>
            <a:ext cx="400050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500" b="0" i="0">
                <a:solidFill>
                  <a:srgbClr val="0D0D18"/>
                </a:solidFill>
                <a:latin typeface="Space Grotesk"/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2625" y="4410075"/>
            <a:ext cx="6572250" cy="381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250" b="1" i="0">
                <a:solidFill>
                  <a:srgbClr val="FFFFFF"/>
                </a:solidFill>
                <a:latin typeface="Space Grotesk"/>
              </a:rPr>
              <a:t>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2625" y="4829175"/>
            <a:ext cx="6572250" cy="28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50" b="0" i="0">
                <a:solidFill>
                  <a:srgbClr val="9696A3"/>
                </a:solidFill>
                <a:latin typeface="Space Grotesk"/>
              </a:rPr>
              <a:t>Burna Boy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8700" y="4752975"/>
            <a:ext cx="28575" cy="11430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715375" y="4676775"/>
            <a:ext cx="28575" cy="19050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782050" y="4791075"/>
            <a:ext cx="28575" cy="7620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848725" y="4657725"/>
            <a:ext cx="28575" cy="20955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915400" y="4733925"/>
            <a:ext cx="28575" cy="13335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982075" y="4695825"/>
            <a:ext cx="28575" cy="17145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48750" y="4772025"/>
            <a:ext cx="28575" cy="9525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4875" y="5734050"/>
            <a:ext cx="8477250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50" b="0" i="0">
                <a:solidFill>
                  <a:srgbClr val="9696A3"/>
                </a:solidFill>
                <a:latin typeface="Space Grotesk"/>
              </a:rPr>
              <a:t>DID YOU CATCH IT ON…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875" y="6172200"/>
            <a:ext cx="8477250" cy="12382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6300" b="1" i="0">
                <a:solidFill>
                  <a:srgbClr val="FFFFFF"/>
                </a:solidFill>
                <a:latin typeface="Space Grotesk"/>
              </a:rPr>
              <a:t>Netflix. Top Boy. Season 1.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875" y="7543800"/>
            <a:ext cx="8477250" cy="952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550" b="0" i="0">
                <a:solidFill>
                  <a:srgbClr val="C4C4CE"/>
                </a:solidFill>
                <a:latin typeface="Space Grotesk"/>
              </a:rPr>
              <a:t>Lagos sound. London screen. </a:t>
            </a:r>
            <a:r>
              <a:rPr sz="2550" b="0" i="1">
                <a:solidFill>
                  <a:srgbClr val="C9E834"/>
                </a:solidFill>
                <a:latin typeface="Space Grotesk"/>
              </a:rPr>
              <a:t>That was a sync deal.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0500" y="190500"/>
            <a:ext cx="9906000" cy="28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44466"/>
                </a:solidFill>
                <a:latin typeface="Space Grotesk"/>
              </a:rPr>
              <a:t>[ Slide 4: Replace dark background with Spider-Man: Across the Spider-Verse still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4875" y="790575"/>
            <a:ext cx="2667000" cy="3238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Space Grotesk"/>
              </a:rPr>
              <a:t>SYNCMASTER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96325" y="752475"/>
            <a:ext cx="838200" cy="419100"/>
          </a:xfrm>
          <a:prstGeom prst="roundRect">
            <a:avLst/>
          </a:prstGeom>
          <a:noFill/>
          <a:ln w="19050">
            <a:solidFill>
              <a:srgbClr val="8C8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950">
                <a:solidFill>
                  <a:srgbClr val="FFFFFF"/>
                </a:solidFill>
                <a:latin typeface="Space Grotesk"/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2475" y="11687175"/>
            <a:ext cx="2847975" cy="419100"/>
          </a:xfrm>
          <a:prstGeom prst="roundRect">
            <a:avLst/>
          </a:prstGeom>
          <a:noFill/>
          <a:ln w="19050">
            <a:solidFill>
              <a:srgbClr val="8C8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650">
                <a:solidFill>
                  <a:srgbClr val="FFFFFF"/>
                </a:solidFill>
                <a:latin typeface="Space Grotesk"/>
              </a:rPr>
              <a:t>DID YOU CATCH THIS?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34375" y="11687175"/>
            <a:ext cx="1200150" cy="419100"/>
          </a:xfrm>
          <a:prstGeom prst="roundRect">
            <a:avLst/>
          </a:prstGeom>
          <a:noFill/>
          <a:ln w="19050">
            <a:solidFill>
              <a:srgbClr val="8C8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650">
                <a:solidFill>
                  <a:srgbClr val="FFFFFF"/>
                </a:solidFill>
                <a:latin typeface="Space Grotesk"/>
              </a:rPr>
              <a:t>04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4875" y="4286250"/>
            <a:ext cx="8477250" cy="914400"/>
          </a:xfrm>
          <a:prstGeom prst="roundRect">
            <a:avLst/>
          </a:prstGeom>
          <a:solidFill>
            <a:srgbClr val="18192A"/>
          </a:solidFill>
          <a:ln w="9525">
            <a:solidFill>
              <a:srgbClr val="2A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209675" y="4476750"/>
            <a:ext cx="533400" cy="533400"/>
          </a:xfrm>
          <a:prstGeom prst="ellipse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3025" y="4619625"/>
            <a:ext cx="400050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500" b="0" i="0">
                <a:solidFill>
                  <a:srgbClr val="0D0D18"/>
                </a:solidFill>
                <a:latin typeface="Space Grotesk"/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2625" y="4410075"/>
            <a:ext cx="6572250" cy="381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250" b="1" i="0">
                <a:solidFill>
                  <a:srgbClr val="FFFFFF"/>
                </a:solidFill>
                <a:latin typeface="Space Grotesk"/>
              </a:rPr>
              <a:t>Free Mind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2625" y="4829175"/>
            <a:ext cx="6572250" cy="28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50" b="0" i="0">
                <a:solidFill>
                  <a:srgbClr val="9696A3"/>
                </a:solidFill>
                <a:latin typeface="Space Grotesk"/>
              </a:rPr>
              <a:t>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8700" y="4752975"/>
            <a:ext cx="28575" cy="11430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715375" y="4676775"/>
            <a:ext cx="28575" cy="19050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782050" y="4791075"/>
            <a:ext cx="28575" cy="7620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848725" y="4657725"/>
            <a:ext cx="28575" cy="20955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915400" y="4733925"/>
            <a:ext cx="28575" cy="13335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982075" y="4695825"/>
            <a:ext cx="28575" cy="17145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48750" y="4772025"/>
            <a:ext cx="28575" cy="9525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4875" y="5734050"/>
            <a:ext cx="8477250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50" b="0" i="0">
                <a:solidFill>
                  <a:srgbClr val="9696A3"/>
                </a:solidFill>
                <a:latin typeface="Space Grotesk"/>
              </a:rPr>
              <a:t>DID YOU CATCH IT IN…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875" y="6172200"/>
            <a:ext cx="8477250" cy="20002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6300" b="1" i="0">
                <a:solidFill>
                  <a:srgbClr val="FFFFFF"/>
                </a:solidFill>
                <a:latin typeface="Space Grotesk"/>
              </a:rPr>
              <a:t>Spider-Man: Across the Spider-Verse.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875" y="8305800"/>
            <a:ext cx="8477250" cy="952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550" b="0" i="0">
                <a:solidFill>
                  <a:srgbClr val="C4C4CE"/>
                </a:solidFill>
                <a:latin typeface="Space Grotesk"/>
              </a:rPr>
              <a:t>End credits. Everyone Shazamed it. </a:t>
            </a:r>
            <a:r>
              <a:rPr sz="2550" b="0" i="1">
                <a:solidFill>
                  <a:srgbClr val="C9E834"/>
                </a:solidFill>
                <a:latin typeface="Space Grotesk"/>
              </a:rPr>
              <a:t>That was a sync deal.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0500" y="190500"/>
            <a:ext cx="9906000" cy="28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44466"/>
                </a:solidFill>
                <a:latin typeface="Space Grotesk"/>
              </a:rPr>
              <a:t>[ Slide 5: Replace dark background with UEFA Champions League broadcast / stadium photo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4875" y="790575"/>
            <a:ext cx="2667000" cy="3238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Space Grotesk"/>
              </a:rPr>
              <a:t>SYNCMASTER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96325" y="752475"/>
            <a:ext cx="838200" cy="419100"/>
          </a:xfrm>
          <a:prstGeom prst="roundRect">
            <a:avLst/>
          </a:prstGeom>
          <a:noFill/>
          <a:ln w="19050">
            <a:solidFill>
              <a:srgbClr val="8C8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950">
                <a:solidFill>
                  <a:srgbClr val="FFFFFF"/>
                </a:solidFill>
                <a:latin typeface="Space Grotesk"/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2475" y="11687175"/>
            <a:ext cx="2847975" cy="419100"/>
          </a:xfrm>
          <a:prstGeom prst="roundRect">
            <a:avLst/>
          </a:prstGeom>
          <a:noFill/>
          <a:ln w="19050">
            <a:solidFill>
              <a:srgbClr val="8C8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650">
                <a:solidFill>
                  <a:srgbClr val="FFFFFF"/>
                </a:solidFill>
                <a:latin typeface="Space Grotesk"/>
              </a:rPr>
              <a:t>DID YOU CATCH THIS?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34375" y="11687175"/>
            <a:ext cx="1200150" cy="419100"/>
          </a:xfrm>
          <a:prstGeom prst="roundRect">
            <a:avLst/>
          </a:prstGeom>
          <a:noFill/>
          <a:ln w="19050">
            <a:solidFill>
              <a:srgbClr val="8C8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650">
                <a:solidFill>
                  <a:srgbClr val="FFFFFF"/>
                </a:solidFill>
                <a:latin typeface="Space Grotesk"/>
              </a:rPr>
              <a:t>05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4875" y="4286250"/>
            <a:ext cx="8477250" cy="914400"/>
          </a:xfrm>
          <a:prstGeom prst="roundRect">
            <a:avLst/>
          </a:prstGeom>
          <a:solidFill>
            <a:srgbClr val="18192A"/>
          </a:solidFill>
          <a:ln w="9525">
            <a:solidFill>
              <a:srgbClr val="2A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209675" y="4476750"/>
            <a:ext cx="533400" cy="533400"/>
          </a:xfrm>
          <a:prstGeom prst="ellipse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3025" y="4619625"/>
            <a:ext cx="400050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500" b="0" i="0">
                <a:solidFill>
                  <a:srgbClr val="0D0D18"/>
                </a:solidFill>
                <a:latin typeface="Space Grotesk"/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2625" y="4410075"/>
            <a:ext cx="6572250" cy="381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250" b="1" i="0">
                <a:solidFill>
                  <a:srgbClr val="FFFFFF"/>
                </a:solidFill>
                <a:latin typeface="Space Grotesk"/>
              </a:rPr>
              <a:t>Peru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2625" y="4829175"/>
            <a:ext cx="6572250" cy="28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50" b="0" i="0">
                <a:solidFill>
                  <a:srgbClr val="9696A3"/>
                </a:solidFill>
                <a:latin typeface="Space Grotesk"/>
              </a:rPr>
              <a:t>Fireboy DML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8700" y="4752975"/>
            <a:ext cx="28575" cy="11430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715375" y="4676775"/>
            <a:ext cx="28575" cy="19050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782050" y="4791075"/>
            <a:ext cx="28575" cy="7620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848725" y="4657725"/>
            <a:ext cx="28575" cy="20955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915400" y="4733925"/>
            <a:ext cx="28575" cy="13335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982075" y="4695825"/>
            <a:ext cx="28575" cy="17145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48750" y="4772025"/>
            <a:ext cx="28575" cy="9525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4875" y="5734050"/>
            <a:ext cx="8477250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50" b="0" i="0">
                <a:solidFill>
                  <a:srgbClr val="9696A3"/>
                </a:solidFill>
                <a:latin typeface="Space Grotesk"/>
              </a:rPr>
              <a:t>DID YOU CATCH IT AT THE…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875" y="6172200"/>
            <a:ext cx="8477250" cy="20002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6300" b="1" i="0">
                <a:solidFill>
                  <a:srgbClr val="FFFFFF"/>
                </a:solidFill>
                <a:latin typeface="Space Grotesk"/>
              </a:rPr>
              <a:t>UEFA Champions League.
180 countries watching.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875" y="8305800"/>
            <a:ext cx="8477250" cy="952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550" b="0" i="0">
                <a:solidFill>
                  <a:srgbClr val="C4C4CE"/>
                </a:solidFill>
                <a:latin typeface="Space Grotesk"/>
              </a:rPr>
              <a:t>One track. One deal. </a:t>
            </a:r>
            <a:r>
              <a:rPr sz="2550" b="0" i="1">
                <a:solidFill>
                  <a:srgbClr val="C9E834"/>
                </a:solidFill>
                <a:latin typeface="Space Grotesk"/>
              </a:rPr>
              <a:t>One billion impressions.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0500" y="190500"/>
            <a:ext cx="9906000" cy="28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44466"/>
                </a:solidFill>
                <a:latin typeface="Space Grotesk"/>
              </a:rPr>
              <a:t>[ Slide 6: Replace dark background with Black Panther: Wakanda Forever poster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4875" y="790575"/>
            <a:ext cx="2667000" cy="3238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Space Grotesk"/>
              </a:rPr>
              <a:t>SYNCMASTER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96325" y="752475"/>
            <a:ext cx="838200" cy="419100"/>
          </a:xfrm>
          <a:prstGeom prst="roundRect">
            <a:avLst/>
          </a:prstGeom>
          <a:noFill/>
          <a:ln w="19050">
            <a:solidFill>
              <a:srgbClr val="8C8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950">
                <a:solidFill>
                  <a:srgbClr val="FFFFFF"/>
                </a:solidFill>
                <a:latin typeface="Space Grotesk"/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2475" y="11687175"/>
            <a:ext cx="2847975" cy="419100"/>
          </a:xfrm>
          <a:prstGeom prst="roundRect">
            <a:avLst/>
          </a:prstGeom>
          <a:noFill/>
          <a:ln w="19050">
            <a:solidFill>
              <a:srgbClr val="8C8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650">
                <a:solidFill>
                  <a:srgbClr val="FFFFFF"/>
                </a:solidFill>
                <a:latin typeface="Space Grotesk"/>
              </a:rPr>
              <a:t>DID YOU CATCH THIS?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34375" y="11687175"/>
            <a:ext cx="1200150" cy="419100"/>
          </a:xfrm>
          <a:prstGeom prst="roundRect">
            <a:avLst/>
          </a:prstGeom>
          <a:noFill/>
          <a:ln w="19050">
            <a:solidFill>
              <a:srgbClr val="8C8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650">
                <a:solidFill>
                  <a:srgbClr val="FFFFFF"/>
                </a:solidFill>
                <a:latin typeface="Space Grotesk"/>
              </a:rPr>
              <a:t>06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4875" y="4286250"/>
            <a:ext cx="8477250" cy="914400"/>
          </a:xfrm>
          <a:prstGeom prst="roundRect">
            <a:avLst/>
          </a:prstGeom>
          <a:solidFill>
            <a:srgbClr val="18192A"/>
          </a:solidFill>
          <a:ln w="9525">
            <a:solidFill>
              <a:srgbClr val="2A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209675" y="4476750"/>
            <a:ext cx="533400" cy="533400"/>
          </a:xfrm>
          <a:prstGeom prst="ellipse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3025" y="4619625"/>
            <a:ext cx="400050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500" b="0" i="0">
                <a:solidFill>
                  <a:srgbClr val="0D0D18"/>
                </a:solidFill>
                <a:latin typeface="Space Grotesk"/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2625" y="4410075"/>
            <a:ext cx="6572250" cy="381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250" b="1" i="0">
                <a:solidFill>
                  <a:srgbClr val="FFFFFF"/>
                </a:solidFill>
                <a:latin typeface="Space Grotesk"/>
              </a:rPr>
              <a:t>Wakanda Forever 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2625" y="4829175"/>
            <a:ext cx="6572250" cy="28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50" b="0" i="0">
                <a:solidFill>
                  <a:srgbClr val="9696A3"/>
                </a:solidFill>
                <a:latin typeface="Space Grotesk"/>
              </a:rPr>
              <a:t>Various African Artists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8700" y="4752975"/>
            <a:ext cx="28575" cy="11430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715375" y="4676775"/>
            <a:ext cx="28575" cy="19050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782050" y="4791075"/>
            <a:ext cx="28575" cy="7620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848725" y="4657725"/>
            <a:ext cx="28575" cy="20955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915400" y="4733925"/>
            <a:ext cx="28575" cy="13335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982075" y="4695825"/>
            <a:ext cx="28575" cy="17145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48750" y="4772025"/>
            <a:ext cx="28575" cy="9525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4875" y="5734050"/>
            <a:ext cx="8477250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50" b="0" i="0">
                <a:solidFill>
                  <a:srgbClr val="9696A3"/>
                </a:solidFill>
                <a:latin typeface="Space Grotesk"/>
              </a:rPr>
              <a:t>DID YOU CATCH IT IN…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875" y="6172200"/>
            <a:ext cx="8477250" cy="20002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6300" b="1" i="0">
                <a:solidFill>
                  <a:srgbClr val="FFFFFF"/>
                </a:solidFill>
                <a:latin typeface="Space Grotesk"/>
              </a:rPr>
              <a:t>Black Panther: Wakanda Forever. Disney+.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875" y="8305800"/>
            <a:ext cx="8477250" cy="952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550" b="0" i="0">
                <a:solidFill>
                  <a:srgbClr val="C4C4CE"/>
                </a:solidFill>
                <a:latin typeface="Space Grotesk"/>
              </a:rPr>
              <a:t>The whole film was the brief. </a:t>
            </a:r>
            <a:r>
              <a:rPr sz="2550" b="0" i="1">
                <a:solidFill>
                  <a:srgbClr val="C9E834"/>
                </a:solidFill>
                <a:latin typeface="Space Grotesk"/>
              </a:rPr>
              <a:t>That was a sync deal.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252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143250" y="5457825"/>
            <a:ext cx="4000500" cy="4000500"/>
          </a:xfrm>
          <a:prstGeom prst="ellipse">
            <a:avLst/>
          </a:prstGeom>
          <a:solidFill>
            <a:srgbClr val="5D6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4875" y="790575"/>
            <a:ext cx="2667000" cy="3238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Space Grotesk"/>
              </a:rPr>
              <a:t>SYNCMASTER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96325" y="752475"/>
            <a:ext cx="838200" cy="419100"/>
          </a:xfrm>
          <a:prstGeom prst="roundRect">
            <a:avLst/>
          </a:prstGeom>
          <a:noFill/>
          <a:ln w="19050">
            <a:solidFill>
              <a:srgbClr val="9B9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950">
                <a:solidFill>
                  <a:srgbClr val="FFFFFF"/>
                </a:solidFill>
                <a:latin typeface="Space Grotesk"/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2475" y="11687175"/>
            <a:ext cx="1666875" cy="419100"/>
          </a:xfrm>
          <a:prstGeom prst="roundRect">
            <a:avLst/>
          </a:prstGeom>
          <a:noFill/>
          <a:ln w="19050">
            <a:solidFill>
              <a:srgbClr val="9B9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650">
                <a:solidFill>
                  <a:srgbClr val="FFFFFF"/>
                </a:solidFill>
                <a:latin typeface="Space Grotesk"/>
              </a:rPr>
              <a:t>THE TURN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34375" y="11687175"/>
            <a:ext cx="1200150" cy="419100"/>
          </a:xfrm>
          <a:prstGeom prst="roundRect">
            <a:avLst/>
          </a:prstGeom>
          <a:noFill/>
          <a:ln w="19050">
            <a:solidFill>
              <a:srgbClr val="9B9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650">
                <a:solidFill>
                  <a:srgbClr val="FFFFFF"/>
                </a:solidFill>
                <a:latin typeface="Space Grotesk"/>
              </a:rPr>
              <a:t>07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3048000"/>
            <a:ext cx="8477250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50" b="0" i="0">
                <a:solidFill>
                  <a:srgbClr val="ADADF1"/>
                </a:solidFill>
                <a:latin typeface="Space Grotesk"/>
              </a:rPr>
              <a:t>THE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3524250"/>
            <a:ext cx="8477250" cy="31432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6300" b="1" i="0">
                <a:solidFill>
                  <a:srgbClr val="FFFFFF"/>
                </a:solidFill>
                <a:latin typeface="Space Grotesk"/>
              </a:rPr>
              <a:t>So what actually happened when those songs played?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6858000"/>
            <a:ext cx="8477250" cy="7143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50" b="0" i="0">
                <a:solidFill>
                  <a:srgbClr val="C9E834"/>
                </a:solidFill>
                <a:latin typeface="Space Grotesk"/>
              </a:rPr>
              <a:t>This is what a sync deal does.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252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429000" y="-428625"/>
            <a:ext cx="3429000" cy="3429000"/>
          </a:xfrm>
          <a:prstGeom prst="ellipse">
            <a:avLst/>
          </a:prstGeom>
          <a:solidFill>
            <a:srgbClr val="5C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4875" y="790575"/>
            <a:ext cx="2667000" cy="3238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Space Grotesk"/>
              </a:rPr>
              <a:t>SYNCMASTER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96325" y="752475"/>
            <a:ext cx="838200" cy="419100"/>
          </a:xfrm>
          <a:prstGeom prst="roundRect">
            <a:avLst/>
          </a:prstGeom>
          <a:noFill/>
          <a:ln w="19050">
            <a:solidFill>
              <a:srgbClr val="9B9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950">
                <a:solidFill>
                  <a:srgbClr val="FFFFFF"/>
                </a:solidFill>
                <a:latin typeface="Space Grotesk"/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2475" y="11687175"/>
            <a:ext cx="1666875" cy="419100"/>
          </a:xfrm>
          <a:prstGeom prst="roundRect">
            <a:avLst/>
          </a:prstGeom>
          <a:noFill/>
          <a:ln w="19050">
            <a:solidFill>
              <a:srgbClr val="9B9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650">
                <a:solidFill>
                  <a:srgbClr val="FFFFFF"/>
                </a:solidFill>
                <a:latin typeface="Space Grotesk"/>
              </a:rPr>
              <a:t>SYNC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34375" y="11687175"/>
            <a:ext cx="1200150" cy="419100"/>
          </a:xfrm>
          <a:prstGeom prst="roundRect">
            <a:avLst/>
          </a:prstGeom>
          <a:noFill/>
          <a:ln w="19050">
            <a:solidFill>
              <a:srgbClr val="9B9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650">
                <a:solidFill>
                  <a:srgbClr val="FFFFFF"/>
                </a:solidFill>
                <a:latin typeface="Space Grotesk"/>
              </a:rPr>
              <a:t>08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1524000"/>
            <a:ext cx="8477250" cy="1047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pace Grotesk"/>
              </a:rPr>
              <a:t>One placement changes the trajectory of a career.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4875" y="2781300"/>
            <a:ext cx="8477250" cy="1104900"/>
          </a:xfrm>
          <a:prstGeom prst="roundRect">
            <a:avLst/>
          </a:prstGeom>
          <a:solidFill>
            <a:srgbClr val="5A5AE3"/>
          </a:solidFill>
          <a:ln w="9525">
            <a:solidFill>
              <a:srgbClr val="646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85875" y="2990850"/>
            <a:ext cx="285750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4800" b="1" i="0">
                <a:solidFill>
                  <a:srgbClr val="C9E834"/>
                </a:solidFill>
                <a:latin typeface="Space Grotesk"/>
              </a:rPr>
              <a:t>812%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6250" y="3067050"/>
            <a:ext cx="4857750" cy="533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875" b="0" i="0">
                <a:solidFill>
                  <a:srgbClr val="ADADF1"/>
                </a:solidFill>
                <a:latin typeface="Space Grotesk"/>
              </a:rPr>
              <a:t>Streams jump the week a track airs on a major TV show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4875" y="4038600"/>
            <a:ext cx="8477250" cy="1104900"/>
          </a:xfrm>
          <a:prstGeom prst="roundRect">
            <a:avLst/>
          </a:prstGeom>
          <a:solidFill>
            <a:srgbClr val="5A5AE3"/>
          </a:solidFill>
          <a:ln w="9525">
            <a:solidFill>
              <a:srgbClr val="646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85875" y="4248150"/>
            <a:ext cx="285750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4800" b="1" i="0">
                <a:solidFill>
                  <a:srgbClr val="C9E834"/>
                </a:solidFill>
                <a:latin typeface="Space Grotesk"/>
              </a:rPr>
              <a:t>$5k – $500k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6250" y="4324350"/>
            <a:ext cx="4857750" cy="533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875" b="0" i="0">
                <a:solidFill>
                  <a:srgbClr val="ADADF1"/>
                </a:solidFill>
                <a:latin typeface="Space Grotesk"/>
              </a:rPr>
              <a:t>Sync fees per placement depending on project and territory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4875" y="5295900"/>
            <a:ext cx="8477250" cy="1104900"/>
          </a:xfrm>
          <a:prstGeom prst="roundRect">
            <a:avLst/>
          </a:prstGeom>
          <a:solidFill>
            <a:srgbClr val="5A5AE3"/>
          </a:solidFill>
          <a:ln w="9525">
            <a:solidFill>
              <a:srgbClr val="646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5875" y="5505450"/>
            <a:ext cx="285750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4800" b="1" i="0">
                <a:solidFill>
                  <a:srgbClr val="C9E834"/>
                </a:solidFill>
                <a:latin typeface="Space Grotesk"/>
              </a:rPr>
              <a:t>$178M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50" y="5581650"/>
            <a:ext cx="4857750" cy="533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875" b="0" i="0">
                <a:solidFill>
                  <a:srgbClr val="ADADF1"/>
                </a:solidFill>
                <a:latin typeface="Space Grotesk"/>
              </a:rPr>
              <a:t>US sync royalties in H1 2022 alone — up 30% year on 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875" y="6629400"/>
            <a:ext cx="8477250" cy="34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50" b="0" i="1">
                <a:solidFill>
                  <a:srgbClr val="6E6EA8"/>
                </a:solidFill>
                <a:latin typeface="Space Grotesk"/>
              </a:rPr>
              <a:t>Sources: Blakmarigold / industry data · Trolley sync royalty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252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4875" y="790575"/>
            <a:ext cx="2667000" cy="3238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Space Grotesk"/>
              </a:rPr>
              <a:t>SYNCMASTER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96325" y="752475"/>
            <a:ext cx="838200" cy="419100"/>
          </a:xfrm>
          <a:prstGeom prst="roundRect">
            <a:avLst/>
          </a:prstGeom>
          <a:noFill/>
          <a:ln w="19050">
            <a:solidFill>
              <a:srgbClr val="9B9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950">
                <a:solidFill>
                  <a:srgbClr val="FFFFFF"/>
                </a:solidFill>
                <a:latin typeface="Space Grotesk"/>
              </a:rPr>
              <a:t>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475" y="11687175"/>
            <a:ext cx="1666875" cy="419100"/>
          </a:xfrm>
          <a:prstGeom prst="roundRect">
            <a:avLst/>
          </a:prstGeom>
          <a:noFill/>
          <a:ln w="19050">
            <a:solidFill>
              <a:srgbClr val="9B9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650">
                <a:solidFill>
                  <a:srgbClr val="FFFFFF"/>
                </a:solidFill>
                <a:latin typeface="Space Grotesk"/>
              </a:rPr>
              <a:t>THE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34375" y="11687175"/>
            <a:ext cx="1200150" cy="419100"/>
          </a:xfrm>
          <a:prstGeom prst="roundRect">
            <a:avLst/>
          </a:prstGeom>
          <a:noFill/>
          <a:ln w="19050">
            <a:solidFill>
              <a:srgbClr val="9B9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650">
                <a:solidFill>
                  <a:srgbClr val="FFFFFF"/>
                </a:solidFill>
                <a:latin typeface="Space Grotesk"/>
              </a:rPr>
              <a:t>09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1762125"/>
            <a:ext cx="8477250" cy="31432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6300" b="1" i="0">
                <a:solidFill>
                  <a:srgbClr val="FFFFFF"/>
                </a:solidFill>
                <a:latin typeface="Space Grotesk"/>
              </a:rPr>
              <a:t>African composers make the music the world wants.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5095875"/>
            <a:ext cx="847725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50" b="0" i="0">
                <a:solidFill>
                  <a:srgbClr val="FFFFFF"/>
                </a:solidFill>
                <a:latin typeface="Space Grotesk"/>
              </a:rPr>
              <a:t>But most never see a sync deal.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5857875"/>
            <a:ext cx="8477250" cy="5238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250" b="0" i="0">
                <a:solidFill>
                  <a:srgbClr val="ADADF1"/>
                </a:solidFill>
                <a:latin typeface="Space Grotesk"/>
              </a:rPr>
              <a:t>No agent. No publisher. No pathway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6686550"/>
            <a:ext cx="847725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300" b="1" i="0">
                <a:solidFill>
                  <a:srgbClr val="C9E834"/>
                </a:solidFill>
                <a:latin typeface="Space Grotesk"/>
              </a:rPr>
              <a:t>The music is world-class.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7429500"/>
            <a:ext cx="847725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300" b="1" i="0">
                <a:solidFill>
                  <a:srgbClr val="C9E834"/>
                </a:solidFill>
                <a:latin typeface="Space Grotesk"/>
              </a:rPr>
              <a:t>The infrastructure isn't. Yet.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252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095500" y="2867025"/>
            <a:ext cx="6096000" cy="6096000"/>
          </a:xfrm>
          <a:prstGeom prst="ellipse">
            <a:avLst/>
          </a:prstGeom>
          <a:solidFill>
            <a:srgbClr val="646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0" y="790575"/>
            <a:ext cx="2667000" cy="3238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650" b="1" i="0">
                <a:solidFill>
                  <a:srgbClr val="FFFFFF"/>
                </a:solidFill>
                <a:latin typeface="Space Grotesk"/>
              </a:rPr>
              <a:t>SYNCMASTER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475" y="11687175"/>
            <a:ext cx="1666875" cy="419100"/>
          </a:xfrm>
          <a:prstGeom prst="roundRect">
            <a:avLst/>
          </a:prstGeom>
          <a:noFill/>
          <a:ln w="19050">
            <a:solidFill>
              <a:srgbClr val="9B9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650">
                <a:solidFill>
                  <a:srgbClr val="FFFFFF"/>
                </a:solidFill>
                <a:latin typeface="Space Grotesk"/>
              </a:rPr>
              <a:t>JOIN NOW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34375" y="11687175"/>
            <a:ext cx="1200150" cy="419100"/>
          </a:xfrm>
          <a:prstGeom prst="roundRect">
            <a:avLst/>
          </a:prstGeom>
          <a:noFill/>
          <a:ln w="19050">
            <a:solidFill>
              <a:srgbClr val="9B9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>
            <a:noAutofit/>
          </a:bodyPr>
          <a:lstStyle/>
          <a:p>
            <a:pPr algn="ctr"/>
            <a:r>
              <a:rPr sz="1650">
                <a:solidFill>
                  <a:srgbClr val="FFFFFF"/>
                </a:solidFill>
                <a:latin typeface="Space Grotesk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2809875"/>
            <a:ext cx="8477250" cy="20002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Space Grotesk"/>
              </a:rPr>
              <a:t>That's the gap we're closing.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4857750"/>
            <a:ext cx="8477250" cy="14763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550" b="0" i="0">
                <a:solidFill>
                  <a:srgbClr val="B8B8D5"/>
                </a:solidFill>
                <a:latin typeface="Space Grotesk"/>
              </a:rPr>
              <a:t>SyncMaster connects African composers to global sync briefs — curated, vetted, rights-ready.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19375" y="6496050"/>
            <a:ext cx="5048250" cy="952500"/>
          </a:xfrm>
          <a:prstGeom prst="roundRect">
            <a:avLst/>
          </a:prstGeom>
          <a:solidFill>
            <a:srgbClr val="C9E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619375" y="6762750"/>
            <a:ext cx="5048250" cy="4953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3000" b="1" i="0">
                <a:solidFill>
                  <a:srgbClr val="0D0D18"/>
                </a:solidFill>
                <a:latin typeface="Space Grotesk"/>
              </a:rPr>
              <a:t>Apply as a composer 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7667625"/>
            <a:ext cx="8477250" cy="4762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950" b="0" i="0">
                <a:solidFill>
                  <a:srgbClr val="8585AE"/>
                </a:solidFill>
                <a:latin typeface="Space Grotesk"/>
              </a:rPr>
              <a:t>Link in bio · Takes 60 seconds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