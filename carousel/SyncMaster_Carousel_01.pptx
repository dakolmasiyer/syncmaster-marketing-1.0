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30099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COMPOSER PROBLEM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01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1714500"/>
            <a:ext cx="8477250" cy="2952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You scored </a:t>
            </a:r>
            <a:r>
              <a:rPr sz="7200" b="1" spc="-180">
                <a:solidFill>
                  <a:srgbClr val="3661FE"/>
                </a:solidFill>
                <a:latin typeface="Space Grotesk"/>
              </a:rPr>
              <a:t>4 Nollywood films.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None of them pay you again.</a:t>
            </a:r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11111"/>
            </a:avLst>
          </a:prstGeom>
          <a:xfrm>
            <a:off x="904875" y="4857750"/>
            <a:ext cx="8477250" cy="3429000"/>
          </a:xfrm>
          <a:solidFill>
            <a:srgbClr val="CCCCCC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75" y="6429375"/>
            <a:ext cx="8477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08080"/>
                </a:solidFill>
                <a:latin typeface="Space Grotesk"/>
              </a:rPr>
              <a:t>[ Greyscale Lagos / film-set photo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30099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COMPOSER PROBLEM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02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0" y="5286375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 spc="297">
                <a:solidFill>
                  <a:srgbClr val="808080"/>
                </a:solidFill>
                <a:latin typeface="Space Grotesk"/>
              </a:rPr>
              <a:t>SCENE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5857875"/>
            <a:ext cx="847725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A producer called you on a Tuesday.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30099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COMPOSER PROBLEM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03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prstGeom prst="roundRect">
            <a:avLst>
              <a:gd name="adj" fmla="val 8000"/>
            </a:avLst>
          </a:prstGeom>
          <a:xfrm>
            <a:off x="1619250" y="3857625"/>
            <a:ext cx="7048500" cy="4762500"/>
          </a:xfr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8850" y="4467225"/>
            <a:ext cx="1905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168">
                <a:solidFill>
                  <a:srgbClr val="808080"/>
                </a:solidFill>
                <a:latin typeface="Space Grotesk"/>
              </a:rPr>
              <a:t>Cues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4467225"/>
            <a:ext cx="3619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400" b="1" spc="-108">
                <a:solidFill>
                  <a:srgbClr val="000000"/>
                </a:solidFill>
                <a:latin typeface="Space Grotesk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8850" y="5133975"/>
            <a:ext cx="58293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8850" y="5362575"/>
            <a:ext cx="1905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168">
                <a:solidFill>
                  <a:srgbClr val="808080"/>
                </a:solidFill>
                <a:latin typeface="Space Grotesk"/>
              </a:rPr>
              <a:t>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5362575"/>
            <a:ext cx="3619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5400" b="1" spc="-108">
                <a:solidFill>
                  <a:srgbClr val="000000"/>
                </a:solidFill>
                <a:latin typeface="Space Grotesk"/>
              </a:rPr>
              <a:t>3 weeks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8850" y="6029325"/>
            <a:ext cx="5829300" cy="1905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8850" y="6372225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spc="168">
                <a:solidFill>
                  <a:srgbClr val="808080"/>
                </a:solidFill>
                <a:latin typeface="Space Grotesk"/>
              </a:rPr>
              <a:t>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9250" y="6791325"/>
            <a:ext cx="70485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00" b="1" spc="-372">
                <a:solidFill>
                  <a:srgbClr val="000000"/>
                </a:solidFill>
                <a:latin typeface="Space Grotesk"/>
              </a:rPr>
              <a:t>₦180,000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7934325"/>
            <a:ext cx="7048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0" spc="117">
                <a:solidFill>
                  <a:srgbClr val="808080"/>
                </a:solidFill>
                <a:latin typeface="Space Grotesk"/>
              </a:rPr>
              <a:t>— full buyout 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875" y="8963025"/>
            <a:ext cx="8477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08080"/>
                </a:solidFill>
                <a:latin typeface="Space Grotesk"/>
              </a:rPr>
              <a:t>Signed on WhatsApp. No contract you kept.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30099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COMPOSER PROBLEM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04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1657350"/>
            <a:ext cx="8477250" cy="3619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300" b="1" spc="-157">
                <a:solidFill>
                  <a:srgbClr val="000000"/>
                </a:solidFill>
                <a:latin typeface="Space Grotesk"/>
              </a:rPr>
              <a:t>The film hit Netflix.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300" b="1" spc="-157">
                <a:solidFill>
                  <a:srgbClr val="000000"/>
                </a:solidFill>
                <a:latin typeface="Space Grotesk"/>
              </a:rPr>
              <a:t>Then YouTube.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300" b="1" spc="-157">
                <a:solidFill>
                  <a:srgbClr val="000000"/>
                </a:solidFill>
                <a:latin typeface="Space Grotesk"/>
              </a:rPr>
              <a:t>Then a hotel lobby in Accra.</a:t>
            </a:r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12500"/>
            </a:avLst>
          </a:prstGeom>
          <a:xfrm>
            <a:off x="904875" y="5372100"/>
            <a:ext cx="8477250" cy="3048000"/>
          </a:xfrm>
          <a:solidFill>
            <a:srgbClr val="CCCCCC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75" y="6753225"/>
            <a:ext cx="8477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08080"/>
                </a:solidFill>
                <a:latin typeface="Space Grotesk"/>
              </a:rPr>
              <a:t>[ Greyscale street / cinema / TV photo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30099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COMPOSER PROBLEM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05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476875"/>
            <a:ext cx="847725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Your phone never rang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17145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TURN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06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714875"/>
            <a:ext cx="8477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This isn’t a talent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6524625"/>
            <a:ext cx="8477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It’s a </a:t>
            </a:r>
            <a:r>
              <a:rPr sz="7200" b="1" spc="-180">
                <a:solidFill>
                  <a:srgbClr val="3661FE"/>
                </a:solidFill>
                <a:latin typeface="Space Grotesk"/>
              </a:rPr>
              <a:t>rights</a:t>
            </a:r>
            <a:r>
              <a:rPr sz="7200" b="1" spc="-180">
                <a:solidFill>
                  <a:srgbClr val="000000"/>
                </a:solidFill>
                <a:latin typeface="Space Grotesk"/>
              </a:rPr>
              <a:t>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17716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WHAT WE DO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07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1581150"/>
            <a:ext cx="8477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spc="-120">
                <a:solidFill>
                  <a:srgbClr val="000000"/>
                </a:solidFill>
                <a:latin typeface="Space Grotesk"/>
              </a:rPr>
              <a:t>What SyncMaster does:</a:t>
            </a:r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7390"/>
            </a:avLst>
          </a:prstGeom>
          <a:xfrm>
            <a:off x="904875" y="2724150"/>
            <a:ext cx="4124325" cy="4200525"/>
          </a:xfr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247775" y="3067050"/>
            <a:ext cx="304800" cy="38100"/>
          </a:xfrm>
          <a:solidFill>
            <a:srgbClr val="366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7775" y="3257550"/>
            <a:ext cx="34385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44">
                <a:solidFill>
                  <a:srgbClr val="000000"/>
                </a:solidFill>
                <a:latin typeface="Space Grotesk"/>
              </a:rPr>
              <a:t>Structured briefs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133850"/>
            <a:ext cx="3438525" cy="2390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06060"/>
                </a:solidFill>
                <a:latin typeface="Space Grotesk"/>
              </a:rPr>
              <a:t>Producers post real opportunities. You see them first.</a:t>
            </a:r>
          </a:p>
        </p:txBody>
      </p:sp>
      <p:sp>
        <p:nvSpPr>
          <p:cNvPr id="12" name="Rectangle 11"/>
          <p:cNvSpPr/>
          <p:nvPr/>
        </p:nvSpPr>
        <p:spPr>
          <a:prstGeom prst="roundRect">
            <a:avLst>
              <a:gd name="adj" fmla="val 7390"/>
            </a:avLst>
          </a:prstGeom>
          <a:xfrm>
            <a:off x="5257800" y="2724150"/>
            <a:ext cx="4124325" cy="4200525"/>
          </a:xfr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600700" y="3067050"/>
            <a:ext cx="304800" cy="38100"/>
          </a:xfrm>
          <a:solidFill>
            <a:srgbClr val="366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0700" y="3257550"/>
            <a:ext cx="34385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44">
                <a:solidFill>
                  <a:srgbClr val="000000"/>
                </a:solidFill>
                <a:latin typeface="Space Grotesk"/>
              </a:rPr>
              <a:t>Rights kept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700" y="4133850"/>
            <a:ext cx="3438525" cy="2390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06060"/>
                </a:solidFill>
                <a:latin typeface="Space Grotesk"/>
              </a:rPr>
              <a:t>Sync licences, not buyouts. You keep the publishing.</a:t>
            </a:r>
          </a:p>
        </p:txBody>
      </p:sp>
      <p:sp>
        <p:nvSpPr>
          <p:cNvPr id="16" name="Rectangle 15"/>
          <p:cNvSpPr/>
          <p:nvPr/>
        </p:nvSpPr>
        <p:spPr>
          <a:prstGeom prst="roundRect">
            <a:avLst>
              <a:gd name="adj" fmla="val 7390"/>
            </a:avLst>
          </a:prstGeom>
          <a:xfrm>
            <a:off x="904875" y="7153275"/>
            <a:ext cx="4124325" cy="4200525"/>
          </a:xfr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1247775" y="7496175"/>
            <a:ext cx="304800" cy="38100"/>
          </a:xfrm>
          <a:solidFill>
            <a:srgbClr val="366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7775" y="7686675"/>
            <a:ext cx="34385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44">
                <a:solidFill>
                  <a:srgbClr val="000000"/>
                </a:solidFill>
                <a:latin typeface="Space Grotesk"/>
              </a:rPr>
              <a:t>Curated, not flooded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8562975"/>
            <a:ext cx="3438525" cy="2390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06060"/>
                </a:solidFill>
                <a:latin typeface="Space Grotesk"/>
              </a:rPr>
              <a:t>5 composers submit per brief. Not 500.</a:t>
            </a:r>
          </a:p>
        </p:txBody>
      </p:sp>
      <p:sp>
        <p:nvSpPr>
          <p:cNvPr id="20" name="Rectangle 19"/>
          <p:cNvSpPr/>
          <p:nvPr/>
        </p:nvSpPr>
        <p:spPr>
          <a:prstGeom prst="roundRect">
            <a:avLst>
              <a:gd name="adj" fmla="val 7390"/>
            </a:avLst>
          </a:prstGeom>
          <a:xfrm>
            <a:off x="5257800" y="7153275"/>
            <a:ext cx="4124325" cy="4200525"/>
          </a:xfr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5600700" y="7496175"/>
            <a:ext cx="304800" cy="38100"/>
          </a:xfrm>
          <a:solidFill>
            <a:srgbClr val="366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0700" y="7686675"/>
            <a:ext cx="34385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spc="-44">
                <a:solidFill>
                  <a:srgbClr val="000000"/>
                </a:solidFill>
                <a:latin typeface="Space Grotesk"/>
              </a:rPr>
              <a:t>Paid on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700" y="8562975"/>
            <a:ext cx="3438525" cy="2390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06060"/>
                </a:solidFill>
                <a:latin typeface="Space Grotesk"/>
              </a:rPr>
              <a:t>When your cue is used, you get paid.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17145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THE TURN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08 / 09</a:t>
            </a:r>
          </a:p>
        </p:txBody>
      </p:sp>
      <p:sp>
        <p:nvSpPr>
          <p:cNvPr id="6" name="Rectangle 5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543925" y="752475"/>
            <a:ext cx="8382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50">
                <a:solidFill>
                  <a:srgbClr val="000000"/>
                </a:solidFill>
                <a:latin typeface="Space Grotesk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0" y="3762375"/>
            <a:ext cx="1905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0" b="1">
                <a:solidFill>
                  <a:srgbClr val="3661FE"/>
                </a:solidFill>
                <a:latin typeface="Space Grotesk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6143625"/>
            <a:ext cx="84772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You scored it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7620000"/>
            <a:ext cx="84772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3661FE"/>
                </a:solidFill>
                <a:latin typeface="Space Grotesk"/>
              </a:rPr>
              <a:t>Now it should pay you forever.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3375" y="800100"/>
            <a:ext cx="20002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spc="165">
                <a:solidFill>
                  <a:srgbClr val="000000"/>
                </a:solidFill>
                <a:latin typeface="Space Grotesk"/>
              </a:rPr>
              <a:t>SYNCMASTER</a:t>
            </a:r>
          </a:p>
        </p:txBody>
      </p:sp>
      <p:sp>
        <p:nvSpPr>
          <p:cNvPr id="4" name="Rectangle 3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904875" y="11668125"/>
            <a:ext cx="171450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JOIN NOW</a:t>
            </a:r>
          </a:p>
        </p:txBody>
      </p:sp>
      <p:sp>
        <p:nvSpPr>
          <p:cNvPr id="5" name="Rectangle 4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8258175" y="11668125"/>
            <a:ext cx="1123950" cy="438150"/>
          </a:xfrm>
          <a:noFill/>
          <a:ln w="1905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190500" rIns="190500"/>
          <a:lstStyle/>
          <a:p>
            <a:pPr algn="ctr"/>
            <a:r>
              <a:rPr sz="1650" b="0" spc="66">
                <a:solidFill>
                  <a:srgbClr val="000000"/>
                </a:solidFill>
                <a:latin typeface="Space Grotesk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857625"/>
            <a:ext cx="8477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spc="-180">
                <a:solidFill>
                  <a:srgbClr val="000000"/>
                </a:solidFill>
                <a:latin typeface="Space Grotesk"/>
              </a:rPr>
              <a:t>SyncMaster is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572125"/>
            <a:ext cx="8477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808080"/>
                </a:solidFill>
                <a:latin typeface="Space Grotesk"/>
              </a:rPr>
              <a:t>We’re onboarding Nigerian composers right now.</a:t>
            </a:r>
          </a:p>
        </p:txBody>
      </p:sp>
      <p:sp>
        <p:nvSpPr>
          <p:cNvPr id="8" name="Rectangle 7"/>
          <p:cNvSpPr/>
          <p:nvPr/>
        </p:nvSpPr>
        <p:spPr>
          <a:prstGeom prst="roundRect">
            <a:avLst>
              <a:gd name="adj" fmla="val 50000"/>
            </a:avLst>
          </a:prstGeom>
          <a:xfrm>
            <a:off x="2381250" y="6810375"/>
            <a:ext cx="5524500" cy="952500"/>
          </a:xfrm>
          <a:solidFill>
            <a:srgbClr val="3661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3300" b="1" spc="132">
                <a:solidFill>
                  <a:srgbClr val="FFFFFF"/>
                </a:solidFill>
                <a:latin typeface="Space Grotesk"/>
              </a:rPr>
              <a:t>JOIN THE WAITLIST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8220075"/>
            <a:ext cx="8477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808080"/>
                </a:solidFill>
                <a:latin typeface="Space Grotesk"/>
              </a:rPr>
              <a:t>Link in bio. Takes 60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